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522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12700">
            <a:solidFill>
              <a:srgbClr val="1E2A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12700">
            <a:solidFill>
              <a:srgbClr val="1E2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12700">
            <a:solidFill>
              <a:srgbClr val="1E2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12700">
            <a:solidFill>
              <a:srgbClr val="1E2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12700">
            <a:solidFill>
              <a:srgbClr val="1E2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12700">
            <a:solidFill>
              <a:srgbClr val="1E2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6223F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100584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0" y="1645920"/>
            <a:ext cx="82296" cy="822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1" name="Shape 9"/>
          <p:cNvSpPr/>
          <p:nvPr/>
        </p:nvSpPr>
        <p:spPr>
          <a:xfrm>
            <a:off x="9052560" y="2377440"/>
            <a:ext cx="82296" cy="822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109728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Shape 11"/>
          <p:cNvSpPr/>
          <p:nvPr/>
        </p:nvSpPr>
        <p:spPr>
          <a:xfrm>
            <a:off x="9875520" y="3017520"/>
            <a:ext cx="82296" cy="822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0" y="2011680"/>
            <a:ext cx="82296" cy="822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356616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0" y="3840480"/>
            <a:ext cx="82296" cy="822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0" y="4389120"/>
            <a:ext cx="82296" cy="822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47120" y="3291840"/>
            <a:ext cx="82296" cy="8229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9680" y="5120640"/>
            <a:ext cx="82296" cy="822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0" y="5394960"/>
            <a:ext cx="82296" cy="822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0" y="1005840"/>
            <a:ext cx="914400" cy="64008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645920"/>
            <a:ext cx="457200" cy="73152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097280"/>
            <a:ext cx="1188720" cy="128016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0" y="2011680"/>
            <a:ext cx="1097280" cy="100584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3017520"/>
            <a:ext cx="1371600" cy="54864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0" y="3840480"/>
            <a:ext cx="1280160" cy="54864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3291840"/>
            <a:ext cx="1920240" cy="109728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5120640"/>
            <a:ext cx="1188720" cy="27432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SUSTAINABILITY TRACK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182880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Grid Outage &amp;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Dashboard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640080" y="36118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for transformer maintenance and severe-weather outage prevention.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4434840"/>
            <a:ext cx="914400" cy="0"/>
          </a:xfrm>
          <a:prstGeom prst="line">
            <a:avLst/>
          </a:prstGeom>
          <a:noFill/>
          <a:ln w="381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r>
              <a:rPr lang="en-US" sz="1400" b="1" kern="0" spc="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SilbernVanguard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4956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Telemetry  •  Machine Learning  •  Real-Time Ops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6" name="Image 0" descr="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71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 are stuck reacting to failures instead of preventing them.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17720" y="685800"/>
            <a:ext cx="6995160" cy="1572768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996696"/>
            <a:ext cx="566928" cy="566928"/>
          </a:xfrm>
          <a:prstGeom prst="ellipse">
            <a:avLst/>
          </a:prstGeom>
          <a:solidFill>
            <a:srgbClr val="E9EDF7"/>
          </a:solidFill>
          <a:ln/>
        </p:spPr>
      </p:sp>
      <p:pic>
        <p:nvPicPr>
          <p:cNvPr id="10" name="Image 1" descr="icons/activity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103" y="1132759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88696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Outages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69280" y="1252728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failures and grid outages cause major economic disruption and safety hazards.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617720" y="2496312"/>
            <a:ext cx="6995160" cy="1572768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92040" y="2807208"/>
            <a:ext cx="566928" cy="566928"/>
          </a:xfrm>
          <a:prstGeom prst="ellipse">
            <a:avLst/>
          </a:prstGeom>
          <a:solidFill>
            <a:srgbClr val="E9EDF7"/>
          </a:solidFill>
          <a:ln/>
        </p:spPr>
      </p:sp>
      <p:pic>
        <p:nvPicPr>
          <p:cNvPr id="15" name="Image 2" descr="icons/thermomet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103" y="2943271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69280" y="2697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Degradation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669280" y="306324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chemical decay, such as corrosive sulfur and DBDS, builds silently with no early warning.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17720" y="4306824"/>
            <a:ext cx="6995160" cy="1572768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4617720"/>
            <a:ext cx="566928" cy="566928"/>
          </a:xfrm>
          <a:prstGeom prst="ellipse">
            <a:avLst/>
          </a:prstGeom>
          <a:solidFill>
            <a:srgbClr val="E9EDF7"/>
          </a:solidFill>
          <a:ln/>
        </p:spPr>
      </p:sp>
      <p:pic>
        <p:nvPicPr>
          <p:cNvPr id="20" name="Image 3" descr="icons/clou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103" y="475378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45079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Blind Spots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669280" y="4873752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weather patterns trigger localized outages that operators can't anticipate in time.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617720" y="59893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reactive maintenance — fixing failures after they happen — instead of preventive action.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900" kern="0" spc="100" dirty="0" err="1" smtClean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SilbernVanguard</a:t>
            </a:r>
            <a:r>
              <a:rPr lang="en-US" sz="900" kern="0" spc="100" dirty="0" smtClean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00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GRID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ML-powered, real-time dashboard that continuously streams grid telemetry, weather data, and transformer oil-gas analysis.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0"/>
          </a:xfrm>
          <a:prstGeom prst="line">
            <a:avLst/>
          </a:prstGeom>
          <a:noFill/>
          <a:ln w="12700">
            <a:solidFill>
              <a:srgbClr val="2B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23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RANDOM FOREST + ISOLATION FOREST MODELS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322320" cy="2514600"/>
          </a:xfrm>
          <a:prstGeom prst="roundRect">
            <a:avLst>
              <a:gd name="adj" fmla="val 2909"/>
            </a:avLst>
          </a:prstGeom>
          <a:solidFill>
            <a:srgbClr val="1C2A4A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246120"/>
            <a:ext cx="621792" cy="621792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9" name="Image 0" descr="icon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10" y="3395350"/>
            <a:ext cx="323332" cy="3233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4041648"/>
            <a:ext cx="268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Health Scoring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268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categorizes grid health on a 0–100% scale from live telemetry.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19600" y="2926080"/>
            <a:ext cx="3322320" cy="2514600"/>
          </a:xfrm>
          <a:prstGeom prst="roundRect">
            <a:avLst>
              <a:gd name="adj" fmla="val 2909"/>
            </a:avLst>
          </a:prstGeom>
          <a:solidFill>
            <a:srgbClr val="1C2A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739640" y="3246120"/>
            <a:ext cx="621792" cy="621792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14" name="Image 1" descr="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870" y="3395350"/>
            <a:ext cx="323332" cy="3233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39640" y="4041648"/>
            <a:ext cx="268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Anomaly Flagging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39640" y="4617720"/>
            <a:ext cx="268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irregularities in real-time electrical feeds as they occur.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90560" y="2926080"/>
            <a:ext cx="3322320" cy="2514600"/>
          </a:xfrm>
          <a:prstGeom prst="roundRect">
            <a:avLst>
              <a:gd name="adj" fmla="val 2909"/>
            </a:avLst>
          </a:prstGeom>
          <a:solidFill>
            <a:srgbClr val="1C2A4A"/>
          </a:solidFill>
          <a:ln/>
        </p:spPr>
      </p:sp>
      <p:sp>
        <p:nvSpPr>
          <p:cNvPr id="18" name="Shape 14"/>
          <p:cNvSpPr/>
          <p:nvPr/>
        </p:nvSpPr>
        <p:spPr>
          <a:xfrm>
            <a:off x="8610600" y="3246120"/>
            <a:ext cx="621792" cy="621792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19" name="Image 2" descr="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830" y="3395350"/>
            <a:ext cx="323332" cy="3233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10600" y="4041648"/>
            <a:ext cx="268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Weather-Outage Prediction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610600" y="4617720"/>
            <a:ext cx="268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localized outages before severe weather hits the grid.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5806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crews are dispatched preventively — before catastrophic grid failures occur.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900" kern="0" spc="100" dirty="0" err="1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SilbernVanguard</a:t>
            </a:r>
            <a:r>
              <a:rPr lang="en-US" sz="900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kern="0" spc="100" dirty="0" smtClean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kern="0" spc="100" dirty="0" smtClean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900" kern="0" spc="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GRID INTELLIGENCE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that turn raw grid data into preventive action.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58568"/>
            <a:ext cx="603504" cy="603504"/>
          </a:xfrm>
          <a:prstGeom prst="ellipse">
            <a:avLst/>
          </a:prstGeom>
          <a:solidFill>
            <a:srgbClr val="E9EDF7"/>
          </a:solidFill>
          <a:ln/>
        </p:spPr>
      </p:sp>
      <p:pic>
        <p:nvPicPr>
          <p:cNvPr id="7" name="Image 0" descr="icons/wifi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89" y="240340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037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Anomaly Detection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7889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Isolation Forest to monitor live Phase 1/2/3 voltages and currents in real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56248" y="2258568"/>
            <a:ext cx="603504" cy="603504"/>
          </a:xfrm>
          <a:prstGeom prst="ellipse">
            <a:avLst/>
          </a:prstGeom>
          <a:solidFill>
            <a:srgbClr val="E9EDF7"/>
          </a:solidFill>
          <a:ln/>
        </p:spPr>
      </p:sp>
      <p:pic>
        <p:nvPicPr>
          <p:cNvPr id="12" name="Image 1" descr="icons/activity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089" y="240340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2037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Health Prediction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60920" y="27889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Regressor trained on 14 dissolved gas properties forecasts failure risk.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453128"/>
            <a:ext cx="603504" cy="603504"/>
          </a:xfrm>
          <a:prstGeom prst="ellipse">
            <a:avLst/>
          </a:prstGeom>
          <a:solidFill>
            <a:srgbClr val="E9EDF7"/>
          </a:solidFill>
          <a:ln/>
        </p:spPr>
      </p:sp>
      <p:pic>
        <p:nvPicPr>
          <p:cNvPr id="17" name="Image 2" descr="icons/clou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089" y="45979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3982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Outage Risk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45920" y="49834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outage severity from real-time weather feeds to guide crew dispatch.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160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56248" y="4453128"/>
            <a:ext cx="603504" cy="603504"/>
          </a:xfrm>
          <a:prstGeom prst="ellipse">
            <a:avLst/>
          </a:prstGeom>
          <a:solidFill>
            <a:srgbClr val="E9EDF7"/>
          </a:solidFill>
          <a:ln/>
        </p:spPr>
      </p:sp>
      <p:pic>
        <p:nvPicPr>
          <p:cNvPr id="22" name="Image 3" descr="icons/monitor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089" y="45979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3982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Neumorphic UI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60920" y="49834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soft-UI dashboard that visually responds to data severity with colored LED indicators.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900" kern="0" spc="100" dirty="0" err="1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SilbernVanguard</a:t>
            </a:r>
            <a:r>
              <a:rPr lang="en-US" sz="900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kern="0" spc="100" dirty="0" smtClean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00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GRID INTELLIGENCE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modular stack built for real-time ML inference and a responsive UI.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C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77440"/>
            <a:ext cx="566928" cy="566928"/>
          </a:xfrm>
          <a:prstGeom prst="ellipse">
            <a:avLst/>
          </a:prstGeom>
          <a:solidFill>
            <a:srgbClr val="3A86FF"/>
          </a:solidFill>
          <a:ln/>
        </p:spPr>
      </p:sp>
      <p:pic>
        <p:nvPicPr>
          <p:cNvPr id="7" name="Image 0" descr="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25135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688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(Python)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10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3101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17296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54480" y="35021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async API layer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14" name="Image 2" descr="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29768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160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554480" y="448970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&amp; IsolationForest models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14400" y="5175504"/>
            <a:ext cx="457200" cy="45720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18" name="Image 3" descr="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28523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5148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Joblib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554480" y="547725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and model persistence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205740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C2A4A"/>
          </a:solidFill>
          <a:ln/>
        </p:spPr>
      </p:sp>
      <p:sp>
        <p:nvSpPr>
          <p:cNvPr id="22" name="Shape 16"/>
          <p:cNvSpPr/>
          <p:nvPr/>
        </p:nvSpPr>
        <p:spPr>
          <a:xfrm>
            <a:off x="6583680" y="2377440"/>
            <a:ext cx="566928" cy="566928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3" name="Image 4" descr="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9743" y="2513503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24688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6629400" y="3200400"/>
            <a:ext cx="457200" cy="45720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26" name="Image 5" descr="icons/z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331012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317296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7269480" y="35021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modern component-driven UI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629400" y="4187952"/>
            <a:ext cx="457200" cy="45720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30" name="Image 6" descr="icons/bo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9128" y="4297680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269480" y="4160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Neumorphism Design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269480" y="448970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Soft-UI CSS system for the dashboard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629400" y="5175504"/>
            <a:ext cx="457200" cy="457200"/>
          </a:xfrm>
          <a:prstGeom prst="ellipse">
            <a:avLst/>
          </a:prstGeom>
          <a:solidFill>
            <a:srgbClr val="16223F"/>
          </a:solidFill>
          <a:ln/>
        </p:spPr>
      </p:sp>
      <p:pic>
        <p:nvPicPr>
          <p:cNvPr id="34" name="Image 7" descr="icons/moni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128" y="5285232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269480" y="5148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 &amp; Leaflet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7269480" y="547725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Iconography and interactive live maps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900" kern="0" spc="100" dirty="0" err="1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SilbernVanguard</a:t>
            </a:r>
            <a:r>
              <a:rPr lang="en-US" sz="900" kern="0" spc="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kern="0" spc="100" dirty="0" smtClean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kern="0" spc="100" dirty="0" smtClean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900" kern="0" spc="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GRID INTELLIGENCE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16223F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6223F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fixes to preventive intelligence — powering a more resilient grid.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38648" y="3977640"/>
            <a:ext cx="914400" cy="0"/>
          </a:xfrm>
          <a:prstGeom prst="line">
            <a:avLst/>
          </a:prstGeom>
          <a:noFill/>
          <a:ln w="38100">
            <a:solidFill>
              <a:srgbClr val="FFB6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kern="0" spc="1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r>
              <a:rPr lang="en-US" sz="1400" b="1" kern="0" spc="15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SilbernVanguard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49884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Sustainability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401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vans</cp:lastModifiedBy>
  <cp:revision>3</cp:revision>
  <dcterms:created xsi:type="dcterms:W3CDTF">2026-09-15T12:55:54Z</dcterms:created>
  <dcterms:modified xsi:type="dcterms:W3CDTF">2026-09-15T13:42:26Z</dcterms:modified>
</cp:coreProperties>
</file>